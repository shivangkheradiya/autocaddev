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72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E4529-E25F-F252-874F-D49827DE2F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B4C997-2CB3-9B01-F1EF-9E37216175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41E52B-2F1D-3194-11AE-B3D002EC0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FE6E7-9E02-4B4B-BF4E-4E832380C92C}" type="datetimeFigureOut">
              <a:rPr lang="en-IN" smtClean="0"/>
              <a:t>18-09-2026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D029AE-B838-BE60-99F3-B9CAC6F05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2744D5-0E91-B345-9BD1-B555A5E1F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A73A0-A0C0-4C88-9CF4-45F717A598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4114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DD1A7-1A57-658E-74BF-ABEDF3D99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19E103-41F0-6689-BEA6-4FB795E7E0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B3A60-FB42-187D-1B38-8C7CA6333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FE6E7-9E02-4B4B-BF4E-4E832380C92C}" type="datetimeFigureOut">
              <a:rPr lang="en-IN" smtClean="0"/>
              <a:t>18-09-2026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3B9959-1692-0CBE-90B3-2E40E3A35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D6C03D-5178-235A-8791-859BBC091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A73A0-A0C0-4C88-9CF4-45F717A598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12093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C583E-7F57-0D25-0F3D-E78F295FC4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FFC28B-0113-EB93-9E3B-EDC4C65A2D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151CF7-A003-BCA5-FDA8-C26226313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FE6E7-9E02-4B4B-BF4E-4E832380C92C}" type="datetimeFigureOut">
              <a:rPr lang="en-IN" smtClean="0"/>
              <a:t>18-09-2026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09DFF9-B594-205D-E870-3B7CDBDB2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BEC833-2F87-BFBC-06DC-6734F5A06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A73A0-A0C0-4C88-9CF4-45F717A598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5172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A8F02-4150-9551-6670-A2F6A7A60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5CFDDC-D9F0-E0A8-7E03-8482272896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2FD3DC-7CEF-363D-F741-B8730B6A6C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8BCC07-CBCC-4B3F-2683-4CE3C0686B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FE6E7-9E02-4B4B-BF4E-4E832380C92C}" type="datetimeFigureOut">
              <a:rPr lang="en-IN" smtClean="0"/>
              <a:t>18-09-2026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475307-8939-B432-EC59-F6A3F1A4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4E2951-C207-E078-FD42-D8CAE5875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A73A0-A0C0-4C88-9CF4-45F717A598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21270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11394-6219-1AD2-42CE-3F01B873B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2A38E9-7563-8E2B-4EDB-00671969EF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E9284-32F0-7806-ED35-645859C9DD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ECB322-79CE-5985-7D06-AD8474E86C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1C49F-AA86-079B-4018-451C77D3CD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C26AD6-9971-51B6-27C3-13103A004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FE6E7-9E02-4B4B-BF4E-4E832380C92C}" type="datetimeFigureOut">
              <a:rPr lang="en-IN" smtClean="0"/>
              <a:t>18-09-2026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264C9B-85E6-D44D-FBFC-C584B486D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C78EFC-7515-8D35-4DB9-5F5516ADB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A73A0-A0C0-4C88-9CF4-45F717A598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4876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01C03-BA40-8259-3E7D-B960D546E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0E0D0B-4774-A0C7-C4C4-A096AFD3EB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FE6E7-9E02-4B4B-BF4E-4E832380C92C}" type="datetimeFigureOut">
              <a:rPr lang="en-IN" smtClean="0"/>
              <a:t>18-09-2026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4C6143-E397-2B0E-56BE-A6B3E0075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C9462E-0F68-A2A3-7410-DEDEB2135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A73A0-A0C0-4C88-9CF4-45F717A598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78172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D7C9FB-720D-9FC1-5A88-0F0332788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FE6E7-9E02-4B4B-BF4E-4E832380C92C}" type="datetimeFigureOut">
              <a:rPr lang="en-IN" smtClean="0"/>
              <a:t>18-09-2026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7B1140-1F82-EB36-5766-EF60F0430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77EB50-E78F-E873-3C61-F0004031F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A73A0-A0C0-4C88-9CF4-45F717A598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4489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67334-57E7-0328-29E4-5CC9D7712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CE2060-ACAA-4DC9-9F2A-9F5E5D36B5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D684E4-A375-468D-394B-CB9D0CBF87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92087-92EA-7800-F2E1-02C19FDF3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FE6E7-9E02-4B4B-BF4E-4E832380C92C}" type="datetimeFigureOut">
              <a:rPr lang="en-IN" smtClean="0"/>
              <a:t>18-09-2026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6F3948-C92C-D1B2-6E36-EE9DC8305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B70BF9-6E51-3038-F83F-02186E6B5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A73A0-A0C0-4C88-9CF4-45F717A598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08199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DD033-58B7-0477-5FBD-91E53BBADF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D00F63-7542-1958-35D7-ECAEF431EE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31BBA8-7F12-784B-AF94-A994F8B198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8B4AD3-4FC3-0360-E13D-B44ED65E1B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FE6E7-9E02-4B4B-BF4E-4E832380C92C}" type="datetimeFigureOut">
              <a:rPr lang="en-IN" smtClean="0"/>
              <a:t>18-09-2026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F0BA66-2981-9908-883A-F8993CB10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8FBB1A-C36B-52DE-FEB9-6CA449A9D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A73A0-A0C0-4C88-9CF4-45F717A598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1109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14D7A-18DF-951D-C2EA-DEEE40CF4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46F0B5-BCFD-678D-3861-A4671892E4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7C0FB2-87A0-C2F4-4B0E-7077D1AC1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FE6E7-9E02-4B4B-BF4E-4E832380C92C}" type="datetimeFigureOut">
              <a:rPr lang="en-IN" smtClean="0"/>
              <a:t>18-09-2026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3F1A01-C580-FF54-11D3-98F55CDFF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1C192A-4C25-75AE-0918-98DC8F33B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A73A0-A0C0-4C88-9CF4-45F717A598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5098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6E280D-723E-B817-0150-F2B1A4A77A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3BC071-F20B-8B24-3027-B8E8996CCC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E07E35-6BA9-59D8-90A0-7BCC067B8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FE6E7-9E02-4B4B-BF4E-4E832380C92C}" type="datetimeFigureOut">
              <a:rPr lang="en-IN" smtClean="0"/>
              <a:t>18-09-2026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42577F-0676-642E-5894-A464F2628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E31F47-6958-1AD6-26E7-AFF22788A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A73A0-A0C0-4C88-9CF4-45F717A598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30508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23E1F1-37D4-FC3A-1F1D-CF9573288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732707-9943-A84A-0A34-1B7A44D54B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B6425C-1C54-5BD8-6D21-1E0B0FAAED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4FE6E7-9E02-4B4B-BF4E-4E832380C92C}" type="datetimeFigureOut">
              <a:rPr lang="en-IN" smtClean="0"/>
              <a:t>18-09-2026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23FF8B-2751-9AD7-A1D2-FC45492FA4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A9BDFF-F494-CC0C-13D6-32A45B654B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5A73A0-A0C0-4C88-9CF4-45F717A598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62746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8B7A7-0F55-3CD9-B623-E2E95AD27F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AutoCAD .NET Developer Bootcamp (C#)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46956C-EB02-C189-1647-AED632ECB9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946206"/>
            <a:ext cx="9144000" cy="1655762"/>
          </a:xfrm>
        </p:spPr>
        <p:txBody>
          <a:bodyPr/>
          <a:lstStyle/>
          <a:p>
            <a:pPr algn="r"/>
            <a:r>
              <a:rPr lang="en-IN" dirty="0"/>
              <a:t>Shivang Kheradiya </a:t>
            </a:r>
          </a:p>
          <a:p>
            <a:pPr algn="r"/>
            <a:r>
              <a:rPr lang="en-IN" dirty="0"/>
              <a:t>Autodesk Developer Network (ADN) Member </a:t>
            </a:r>
          </a:p>
          <a:p>
            <a:pPr algn="r"/>
            <a:r>
              <a:rPr lang="en-IN" dirty="0"/>
              <a:t>AVEVA Tools Specialist | BIM &amp; Digital Engineering Content Creator</a:t>
            </a:r>
          </a:p>
        </p:txBody>
      </p:sp>
    </p:spTree>
    <p:extLst>
      <p:ext uri="{BB962C8B-B14F-4D97-AF65-F5344CB8AC3E}">
        <p14:creationId xmlns:p14="http://schemas.microsoft.com/office/powerpoint/2010/main" val="647487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5399A-97DA-7A5A-BF89-8D68B62B2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Chapter 1</a:t>
            </a:r>
            <a:br>
              <a:rPr lang="en-IN" dirty="0"/>
            </a:br>
            <a:r>
              <a:rPr lang="en-IN" dirty="0"/>
              <a:t>Introduction to AutoCAD Development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5A55E-6555-5E22-7AA1-909D23173D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0" dirty="0"/>
              <a:t>Topics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056B75-2440-E58F-F4E6-3892AFCD5C6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IN" dirty="0"/>
              <a:t>What is AutoCAD Development?</a:t>
            </a:r>
          </a:p>
          <a:p>
            <a:r>
              <a:rPr lang="en-IN" dirty="0"/>
              <a:t>AutoCAD APIs Overview</a:t>
            </a:r>
          </a:p>
          <a:p>
            <a:r>
              <a:rPr lang="en-IN" dirty="0"/>
              <a:t>VBA vs .NET vs </a:t>
            </a:r>
            <a:r>
              <a:rPr lang="en-IN" dirty="0" err="1"/>
              <a:t>ObjectARX</a:t>
            </a:r>
            <a:endParaRPr lang="en-IN" dirty="0"/>
          </a:p>
          <a:p>
            <a:r>
              <a:rPr lang="en-IN" dirty="0"/>
              <a:t>Why C# First?</a:t>
            </a:r>
          </a:p>
          <a:p>
            <a:r>
              <a:rPr lang="en-IN" dirty="0"/>
              <a:t>Course Roadmap</a:t>
            </a:r>
          </a:p>
          <a:p>
            <a:r>
              <a:rPr lang="en-IN" dirty="0"/>
              <a:t>Mini Project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3F8926-2499-9D27-AEB3-1CFE1AB521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IN" b="0" dirty="0"/>
              <a:t>Outcome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986A2B-FB30-E99D-A21C-FBB05337A27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IN" dirty="0"/>
              <a:t>Students execute their first plugin.</a:t>
            </a:r>
          </a:p>
        </p:txBody>
      </p:sp>
    </p:spTree>
    <p:extLst>
      <p:ext uri="{BB962C8B-B14F-4D97-AF65-F5344CB8AC3E}">
        <p14:creationId xmlns:p14="http://schemas.microsoft.com/office/powerpoint/2010/main" val="1912609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920C0-AD71-4FBA-AC09-5682CBBA8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C401B-5D67-4D3B-73F7-F0D5E950E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Chapter 2</a:t>
            </a:r>
            <a:br>
              <a:rPr lang="en-IN" dirty="0"/>
            </a:br>
            <a:r>
              <a:rPr lang="en-IN" dirty="0"/>
              <a:t>Development Environment Setup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BFF430-B178-F84B-80E5-D6268AA467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0" dirty="0"/>
              <a:t>Topics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FB2B71-E1BB-16EF-07A7-B30FAE5B3D0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IN" dirty="0"/>
              <a:t>Install Visual Studio</a:t>
            </a:r>
          </a:p>
          <a:p>
            <a:r>
              <a:rPr lang="en-IN" dirty="0"/>
              <a:t>Configure AutoCAD</a:t>
            </a:r>
          </a:p>
          <a:p>
            <a:r>
              <a:rPr lang="en-IN" dirty="0"/>
              <a:t>Create Class Library</a:t>
            </a:r>
          </a:p>
          <a:p>
            <a:r>
              <a:rPr lang="en-IN" dirty="0"/>
              <a:t>Reference AutoCAD DLLs</a:t>
            </a:r>
          </a:p>
          <a:p>
            <a:r>
              <a:rPr lang="en-IN" dirty="0"/>
              <a:t>Build First Project</a:t>
            </a:r>
          </a:p>
          <a:p>
            <a:r>
              <a:rPr lang="en-IN" dirty="0"/>
              <a:t>Mini Project - Compile plugin DLL.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79414E-5E64-E892-16CD-C7663DD4EA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IN" b="0" dirty="0"/>
              <a:t>Outcome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3E8D52-E548-0D99-ADFB-39124D553E35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IN" dirty="0"/>
              <a:t>Working with development environment.</a:t>
            </a:r>
          </a:p>
        </p:txBody>
      </p:sp>
    </p:spTree>
    <p:extLst>
      <p:ext uri="{BB962C8B-B14F-4D97-AF65-F5344CB8AC3E}">
        <p14:creationId xmlns:p14="http://schemas.microsoft.com/office/powerpoint/2010/main" val="3308308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32E29-2413-3669-D77E-3F1135EE4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04E4C-959F-1F85-199F-1602A1978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Chapter 3</a:t>
            </a:r>
            <a:br>
              <a:rPr lang="en-IN" dirty="0"/>
            </a:br>
            <a:r>
              <a:rPr lang="en-IN" dirty="0"/>
              <a:t>Understanding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995F9B-2F36-335F-9248-F680AFEAF7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0" dirty="0"/>
              <a:t>Topics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891376-05AA-B492-E2A9-A3430853887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IN" dirty="0"/>
              <a:t>“</a:t>
            </a:r>
            <a:r>
              <a:rPr lang="en-IN" dirty="0" err="1"/>
              <a:t>CommandMethod</a:t>
            </a:r>
            <a:r>
              <a:rPr lang="en-IN" dirty="0"/>
              <a:t>” Attribute</a:t>
            </a:r>
          </a:p>
          <a:p>
            <a:r>
              <a:rPr lang="en-IN" dirty="0"/>
              <a:t>Command Registration</a:t>
            </a:r>
          </a:p>
          <a:p>
            <a:r>
              <a:rPr lang="en-IN" dirty="0"/>
              <a:t>Using Editor</a:t>
            </a:r>
          </a:p>
          <a:p>
            <a:r>
              <a:rPr lang="en-IN" dirty="0"/>
              <a:t>User Messages</a:t>
            </a:r>
          </a:p>
          <a:p>
            <a:r>
              <a:rPr lang="en-IN" dirty="0"/>
              <a:t>Mini Project – Commands creation such as HELLO , ABOUT, VERSION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A72643-5885-315C-9362-01FFA8AF6A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IN" b="0" dirty="0"/>
              <a:t>Outcome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864406-5B38-3C65-366F-6ED1A00C12EE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IN" dirty="0"/>
              <a:t>Multiple working AutoCAD commands.</a:t>
            </a:r>
          </a:p>
        </p:txBody>
      </p:sp>
    </p:spTree>
    <p:extLst>
      <p:ext uri="{BB962C8B-B14F-4D97-AF65-F5344CB8AC3E}">
        <p14:creationId xmlns:p14="http://schemas.microsoft.com/office/powerpoint/2010/main" val="23917817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4C1AE-98F9-4830-90A2-544CC6549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62C23-CDE4-4FC8-73F4-3055F8561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Chapter 4</a:t>
            </a:r>
            <a:br>
              <a:rPr lang="en-IN" dirty="0"/>
            </a:br>
            <a:r>
              <a:rPr lang="en-IN" dirty="0"/>
              <a:t>Understanding AutoCAD Architecture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F5AC7D-02C8-E492-B3B8-FFBAD2ED8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0" dirty="0"/>
              <a:t>Topics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DBEAD1-11DB-6246-12C5-0CF9F881ADB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Application</a:t>
            </a:r>
          </a:p>
          <a:p>
            <a:pPr marL="0" indent="0">
              <a:buNone/>
            </a:pPr>
            <a:r>
              <a:rPr lang="en-GB" dirty="0"/>
              <a:t>   └ Document</a:t>
            </a:r>
          </a:p>
          <a:p>
            <a:pPr marL="0" indent="0">
              <a:buNone/>
            </a:pPr>
            <a:r>
              <a:rPr lang="en-GB" dirty="0"/>
              <a:t>      └ Database</a:t>
            </a:r>
          </a:p>
          <a:p>
            <a:pPr marL="0" indent="0">
              <a:buNone/>
            </a:pPr>
            <a:r>
              <a:rPr lang="en-GB" dirty="0"/>
              <a:t>         └ Entities</a:t>
            </a:r>
          </a:p>
          <a:p>
            <a:r>
              <a:rPr lang="en-GB" dirty="0"/>
              <a:t>Entity Architecture</a:t>
            </a:r>
          </a:p>
          <a:p>
            <a:r>
              <a:rPr lang="en-GB" dirty="0"/>
              <a:t>AutoCAD Object Hierarchy</a:t>
            </a:r>
          </a:p>
          <a:p>
            <a:r>
              <a:rPr lang="en-GB" dirty="0"/>
              <a:t>Navigation through AutoCAD's core components</a:t>
            </a:r>
          </a:p>
          <a:p>
            <a:r>
              <a:rPr lang="en-IN" dirty="0"/>
              <a:t>Mini Project - Explore current drawing information.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6C69D4-4729-570E-8DA1-497CBC31D3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IN" b="0" dirty="0"/>
              <a:t>Outcome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8AC1737-0AFC-C789-B4AE-56B1F8D6F39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dirty="0"/>
              <a:t>Understand AutoCAD object hierarchy.</a:t>
            </a:r>
          </a:p>
        </p:txBody>
      </p:sp>
    </p:spTree>
    <p:extLst>
      <p:ext uri="{BB962C8B-B14F-4D97-AF65-F5344CB8AC3E}">
        <p14:creationId xmlns:p14="http://schemas.microsoft.com/office/powerpoint/2010/main" val="3640761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527F8-4128-B598-D733-F4C4B8320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E7CC4-323A-F14B-94BA-97B85ABC6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Chapter 5</a:t>
            </a:r>
            <a:br>
              <a:rPr lang="en-IN" dirty="0"/>
            </a:br>
            <a:r>
              <a:rPr lang="en-IN" dirty="0"/>
              <a:t>Creating Your First Entities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79E42F-949D-8A16-A25A-EF50E7B424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0" dirty="0"/>
              <a:t>Topics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33736D-5688-3E0D-E12B-E9A7BEF3BD2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IN" dirty="0"/>
              <a:t>Point</a:t>
            </a:r>
          </a:p>
          <a:p>
            <a:r>
              <a:rPr lang="en-IN" dirty="0"/>
              <a:t>Line</a:t>
            </a:r>
          </a:p>
          <a:p>
            <a:r>
              <a:rPr lang="en-IN" dirty="0"/>
              <a:t>Circle</a:t>
            </a:r>
          </a:p>
          <a:p>
            <a:r>
              <a:rPr lang="en-IN" dirty="0"/>
              <a:t>Mini Project - Create Command: DRAWDEMO : Creates multiple entities.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ACDD64-E1D5-2DD4-2CFB-122EE84859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IN" b="0" dirty="0"/>
              <a:t>Outcome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B0F171-ED50-5F89-AC1F-7230E8E14110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IN" dirty="0"/>
              <a:t>Draw objects programmatically.</a:t>
            </a:r>
          </a:p>
        </p:txBody>
      </p:sp>
    </p:spTree>
    <p:extLst>
      <p:ext uri="{BB962C8B-B14F-4D97-AF65-F5344CB8AC3E}">
        <p14:creationId xmlns:p14="http://schemas.microsoft.com/office/powerpoint/2010/main" val="31181007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00D43-E97D-0B44-2590-062A34A3E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5C30C-DC86-E45C-AF40-BEC468D9C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Chapter 6</a:t>
            </a:r>
            <a:br>
              <a:rPr lang="en-IN" dirty="0"/>
            </a:br>
            <a:r>
              <a:rPr lang="en-IN" dirty="0"/>
              <a:t>Working with Transactions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CE28D5-D1F2-C567-B2C7-66443C1A9E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0" dirty="0"/>
              <a:t>Topics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6926A3-54D1-E013-8E5B-D29902DEF68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 err="1"/>
              <a:t>TransactionManager</a:t>
            </a:r>
            <a:endParaRPr lang="en-IN" dirty="0"/>
          </a:p>
          <a:p>
            <a:r>
              <a:rPr lang="en-IN" dirty="0" err="1"/>
              <a:t>OpenMode</a:t>
            </a:r>
            <a:endParaRPr lang="en-IN" dirty="0"/>
          </a:p>
          <a:p>
            <a:r>
              <a:rPr lang="en-IN" dirty="0"/>
              <a:t>Commit</a:t>
            </a:r>
          </a:p>
          <a:p>
            <a:r>
              <a:rPr lang="en-IN" dirty="0"/>
              <a:t>Rollback/ </a:t>
            </a:r>
            <a:r>
              <a:rPr lang="en-GB" dirty="0"/>
              <a:t>Abort</a:t>
            </a:r>
          </a:p>
          <a:p>
            <a:r>
              <a:rPr lang="en-GB" dirty="0"/>
              <a:t>Transaction Best Practices</a:t>
            </a:r>
          </a:p>
          <a:p>
            <a:r>
              <a:rPr lang="en-GB" dirty="0"/>
              <a:t>Safe Database Operations</a:t>
            </a:r>
            <a:endParaRPr lang="en-IN" dirty="0"/>
          </a:p>
          <a:p>
            <a:r>
              <a:rPr lang="en-IN" dirty="0"/>
              <a:t>Mini Project - Create transaction-safe drawing tool.</a:t>
            </a:r>
            <a:br>
              <a:rPr lang="en-IN" dirty="0"/>
            </a:br>
            <a:endParaRPr lang="en-IN" dirty="0"/>
          </a:p>
          <a:p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51034C-2515-229F-EEBD-7BD22CE706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IN" b="0" dirty="0"/>
              <a:t>Outcome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9204F0-323F-D809-ADDF-1DB9B5B463E9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Understand AutoCAD database operations.</a:t>
            </a:r>
          </a:p>
        </p:txBody>
      </p:sp>
    </p:spTree>
    <p:extLst>
      <p:ext uri="{BB962C8B-B14F-4D97-AF65-F5344CB8AC3E}">
        <p14:creationId xmlns:p14="http://schemas.microsoft.com/office/powerpoint/2010/main" val="3127954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CD3B4-6618-2861-0864-BF1F83328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646A6-3EBF-C6C6-78B5-73A3BA86F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Chapter 7</a:t>
            </a:r>
            <a:br>
              <a:rPr lang="en-IN" dirty="0"/>
            </a:br>
            <a:r>
              <a:rPr lang="en-IN" dirty="0"/>
              <a:t>Creating and Managing Layers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15E8E8-7CFF-0E66-3351-1B64A77653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0" dirty="0"/>
              <a:t>Topics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86D434-C11F-B62E-2DB7-2254492E83F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 err="1"/>
              <a:t>LayerTable</a:t>
            </a:r>
            <a:endParaRPr lang="en-GB" dirty="0"/>
          </a:p>
          <a:p>
            <a:r>
              <a:rPr lang="en-GB" dirty="0" err="1"/>
              <a:t>LayerTableRecord</a:t>
            </a:r>
            <a:endParaRPr lang="en-GB" dirty="0"/>
          </a:p>
          <a:p>
            <a:r>
              <a:rPr lang="en-GB" dirty="0"/>
              <a:t>Creating Layers</a:t>
            </a:r>
          </a:p>
          <a:p>
            <a:r>
              <a:rPr lang="en-GB" dirty="0"/>
              <a:t>Checking Existing Layers</a:t>
            </a:r>
          </a:p>
          <a:p>
            <a:r>
              <a:rPr lang="en-GB" dirty="0"/>
              <a:t>Layer Properties</a:t>
            </a:r>
          </a:p>
          <a:p>
            <a:r>
              <a:rPr lang="en-GB" dirty="0"/>
              <a:t>Assigning Entities to Layers</a:t>
            </a:r>
          </a:p>
          <a:p>
            <a:r>
              <a:rPr lang="en-GB" dirty="0"/>
              <a:t>Layer Management Automation</a:t>
            </a:r>
          </a:p>
          <a:p>
            <a:r>
              <a:rPr lang="en-IN" dirty="0"/>
              <a:t>Mini Project - Generate Text, Piping, Insulation layers automatically.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712E6E-0C72-B3AB-C24A-0E528295F2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IN" b="0" dirty="0"/>
              <a:t>Outcome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E50FD6-5E46-B01F-B6AD-FA8DAFB599D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IN" dirty="0"/>
              <a:t>Automated layer management.</a:t>
            </a:r>
          </a:p>
        </p:txBody>
      </p:sp>
    </p:spTree>
    <p:extLst>
      <p:ext uri="{BB962C8B-B14F-4D97-AF65-F5344CB8AC3E}">
        <p14:creationId xmlns:p14="http://schemas.microsoft.com/office/powerpoint/2010/main" val="41264670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64CA0-56B7-A9A1-7ADD-DEC4059C5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D3C66-B908-8FEC-86A2-56B4845EF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Chapter 8</a:t>
            </a:r>
            <a:br>
              <a:rPr lang="en-IN" dirty="0"/>
            </a:br>
            <a:r>
              <a:rPr lang="en-IN" dirty="0"/>
              <a:t>Working with Text and Dimensions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933F04-3639-D44C-221F-95CC57E5B4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0" dirty="0"/>
              <a:t>Topics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50B25E-B552-17F9-5B99-7B4556B89AB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IN" dirty="0" err="1"/>
              <a:t>DBText</a:t>
            </a:r>
            <a:endParaRPr lang="en-IN" dirty="0"/>
          </a:p>
          <a:p>
            <a:r>
              <a:rPr lang="en-IN" dirty="0" err="1"/>
              <a:t>MText</a:t>
            </a:r>
            <a:endParaRPr lang="en-IN" dirty="0"/>
          </a:p>
          <a:p>
            <a:r>
              <a:rPr lang="en-IN" dirty="0"/>
              <a:t>Dimensions</a:t>
            </a:r>
          </a:p>
          <a:p>
            <a:r>
              <a:rPr lang="en-IN" dirty="0"/>
              <a:t>Mini Project - Automatic title generation.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99BBF4-3602-B2A1-7666-405F264635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IN" b="0" dirty="0"/>
              <a:t>Outcome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2DF1B5-C2FB-6A6C-B7CB-C61B9D76C5FE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IN" dirty="0"/>
              <a:t>Drawing annotation automation.</a:t>
            </a:r>
          </a:p>
        </p:txBody>
      </p:sp>
    </p:spTree>
    <p:extLst>
      <p:ext uri="{BB962C8B-B14F-4D97-AF65-F5344CB8AC3E}">
        <p14:creationId xmlns:p14="http://schemas.microsoft.com/office/powerpoint/2010/main" val="35324439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D35A9-8484-397D-6E7E-B5FEC50ED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29BDA-D26A-B38D-776D-FDDF033B3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Chapter 9</a:t>
            </a:r>
            <a:br>
              <a:rPr lang="en-IN" dirty="0"/>
            </a:br>
            <a:r>
              <a:rPr lang="en-IN" dirty="0"/>
              <a:t>Working with Polylines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5F551E-0F5F-1964-97E2-D658EA3D8D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0" dirty="0"/>
              <a:t>Topics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9BBB0-178C-BAFD-96F7-49D545C2684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IN" dirty="0"/>
              <a:t>Polyline</a:t>
            </a:r>
          </a:p>
          <a:p>
            <a:r>
              <a:rPr lang="en-IN" dirty="0"/>
              <a:t>Vertex Management</a:t>
            </a:r>
          </a:p>
          <a:p>
            <a:r>
              <a:rPr lang="en-IN" dirty="0"/>
              <a:t>Closed Shapes</a:t>
            </a:r>
          </a:p>
          <a:p>
            <a:r>
              <a:rPr lang="en-IN" dirty="0"/>
              <a:t>Mini Project - Generate floor layouts.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1FE253-2395-591D-CA2B-414001105E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IN" b="0" dirty="0"/>
              <a:t>Outcome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67E232-99D9-BA37-1119-72E34A7E87C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IN" dirty="0"/>
              <a:t>Complex geometry creation.</a:t>
            </a:r>
          </a:p>
        </p:txBody>
      </p:sp>
    </p:spTree>
    <p:extLst>
      <p:ext uri="{BB962C8B-B14F-4D97-AF65-F5344CB8AC3E}">
        <p14:creationId xmlns:p14="http://schemas.microsoft.com/office/powerpoint/2010/main" val="17264833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46642-06F5-6D34-2248-0C1F7EE95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C6CBF-AB20-6815-863F-D95E027E0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Chapter 10</a:t>
            </a:r>
            <a:br>
              <a:rPr lang="en-IN" dirty="0"/>
            </a:br>
            <a:r>
              <a:rPr lang="en-IN" dirty="0"/>
              <a:t>Introducing Blocks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18D1EE-9F12-5774-32D0-2C44DB272E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0" dirty="0"/>
              <a:t>Topics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25E4F7-6344-EC5A-1F26-9FF61D1E4B0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IN" dirty="0"/>
              <a:t>Block Definitions</a:t>
            </a:r>
          </a:p>
          <a:p>
            <a:r>
              <a:rPr lang="en-IN" dirty="0"/>
              <a:t>Block References</a:t>
            </a:r>
          </a:p>
          <a:p>
            <a:r>
              <a:rPr lang="en-IN" dirty="0"/>
              <a:t>Block Insertion</a:t>
            </a:r>
          </a:p>
          <a:p>
            <a:r>
              <a:rPr lang="en-IN" dirty="0"/>
              <a:t>Mini Project - Create Pipe section block.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DE85C2-DDAB-5473-92C4-B60542F2DB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IN" b="0" dirty="0"/>
              <a:t>Outcome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2E627-6CE0-51D7-07BC-A5CEA008F889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IN" dirty="0"/>
              <a:t>Understand reusable content.</a:t>
            </a:r>
          </a:p>
        </p:txBody>
      </p:sp>
    </p:spTree>
    <p:extLst>
      <p:ext uri="{BB962C8B-B14F-4D97-AF65-F5344CB8AC3E}">
        <p14:creationId xmlns:p14="http://schemas.microsoft.com/office/powerpoint/2010/main" val="42611459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0B6C0-C30F-1A57-DD51-1F4AB45BB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F71D9-817B-2FBB-D969-28CA856A1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Chapter 11</a:t>
            </a:r>
            <a:br>
              <a:rPr lang="en-IN" dirty="0"/>
            </a:br>
            <a:r>
              <a:rPr lang="en-IN" dirty="0"/>
              <a:t>Working with Block Attributes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20D531-0DEC-CD0A-6EB3-0A207A2320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0" dirty="0"/>
              <a:t>Topics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0FD5DF-70E1-21E3-44CF-AC8E3304ECC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IN" dirty="0"/>
              <a:t>Attribute Definition</a:t>
            </a:r>
          </a:p>
          <a:p>
            <a:r>
              <a:rPr lang="en-IN" dirty="0"/>
              <a:t>Attribute Reference</a:t>
            </a:r>
          </a:p>
          <a:p>
            <a:r>
              <a:rPr lang="en-IN" dirty="0"/>
              <a:t>Reading Attributes</a:t>
            </a:r>
          </a:p>
          <a:p>
            <a:r>
              <a:rPr lang="en-IN" dirty="0"/>
              <a:t>Mini Project - Pipe tagging system.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4C2427-6117-BE81-5F90-507C808813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IN" b="0" dirty="0"/>
              <a:t>Outcome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0634D5-2BCE-6953-CCF7-42DD9A42F36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IN" dirty="0"/>
              <a:t>Data-driven drawings.</a:t>
            </a:r>
          </a:p>
        </p:txBody>
      </p:sp>
    </p:spTree>
    <p:extLst>
      <p:ext uri="{BB962C8B-B14F-4D97-AF65-F5344CB8AC3E}">
        <p14:creationId xmlns:p14="http://schemas.microsoft.com/office/powerpoint/2010/main" val="16970462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F0D3C-18C0-96C8-AA77-1704E7F31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81EC5-F0C5-91D4-F286-F614F359A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Chapter 12</a:t>
            </a:r>
            <a:br>
              <a:rPr lang="en-IN" dirty="0"/>
            </a:br>
            <a:r>
              <a:rPr lang="en-IN" dirty="0"/>
              <a:t>Selecting Existing Objects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B4A5B8-514B-63F6-E50D-18C518ADDB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0" dirty="0"/>
              <a:t>Topics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3D9585-2D6D-02DA-98F3-27F4F2A4A71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IN" dirty="0" err="1"/>
              <a:t>SelectionSet</a:t>
            </a:r>
            <a:endParaRPr lang="en-IN" dirty="0"/>
          </a:p>
          <a:p>
            <a:r>
              <a:rPr lang="en-IN" dirty="0" err="1"/>
              <a:t>PromptSelectionOptions</a:t>
            </a:r>
            <a:endParaRPr lang="en-IN" dirty="0"/>
          </a:p>
          <a:p>
            <a:r>
              <a:rPr lang="en-IN" dirty="0"/>
              <a:t>Filtering</a:t>
            </a:r>
          </a:p>
          <a:p>
            <a:r>
              <a:rPr lang="en-IN" dirty="0"/>
              <a:t>Mini Project - Select all circles.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3F5F99-FEDE-18A6-3F12-D4B46A43CB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IN" b="0" dirty="0"/>
              <a:t>Outcome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04F6A4-76E0-664D-3FF8-53E1BBFD99F5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IN" dirty="0"/>
              <a:t>Manipulate existing drawings.</a:t>
            </a:r>
          </a:p>
        </p:txBody>
      </p:sp>
    </p:spTree>
    <p:extLst>
      <p:ext uri="{BB962C8B-B14F-4D97-AF65-F5344CB8AC3E}">
        <p14:creationId xmlns:p14="http://schemas.microsoft.com/office/powerpoint/2010/main" val="1490757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90D16-EB7B-8678-925E-096067B92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14938-BB23-F4D2-0836-9735D4972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Chapter 13</a:t>
            </a:r>
            <a:br>
              <a:rPr lang="en-IN" dirty="0"/>
            </a:br>
            <a:r>
              <a:rPr lang="en-IN" dirty="0"/>
              <a:t>Modifying Existing Objects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8C1918-A2C0-CCF4-AADE-D295446AE9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0" dirty="0"/>
              <a:t>Topics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F2764A-65AA-37FB-4E46-773348A9D9B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IN" dirty="0"/>
              <a:t>Move</a:t>
            </a:r>
          </a:p>
          <a:p>
            <a:r>
              <a:rPr lang="en-IN" dirty="0"/>
              <a:t>Rotate</a:t>
            </a:r>
          </a:p>
          <a:p>
            <a:r>
              <a:rPr lang="en-IN" dirty="0"/>
              <a:t>Scale</a:t>
            </a:r>
          </a:p>
          <a:p>
            <a:r>
              <a:rPr lang="en-IN" dirty="0"/>
              <a:t>Change Layer</a:t>
            </a:r>
          </a:p>
          <a:p>
            <a:r>
              <a:rPr lang="en-IN" dirty="0"/>
              <a:t>Mini Project - Drawing cleanup utility.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15D982-C5A5-3A39-F3E8-8E1909ACC8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IN" b="0" dirty="0"/>
              <a:t>Outcome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BAD168-034B-DD03-003C-7F943FE8616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IN" dirty="0"/>
              <a:t>Editing through code.</a:t>
            </a:r>
          </a:p>
        </p:txBody>
      </p:sp>
    </p:spTree>
    <p:extLst>
      <p:ext uri="{BB962C8B-B14F-4D97-AF65-F5344CB8AC3E}">
        <p14:creationId xmlns:p14="http://schemas.microsoft.com/office/powerpoint/2010/main" val="34213893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F8EB9-1F3A-F28C-D6DD-0D235DA73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2BFF2-FDF2-3477-6261-06E775E6B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Chapter 14</a:t>
            </a:r>
            <a:br>
              <a:rPr lang="en-IN" dirty="0"/>
            </a:br>
            <a:r>
              <a:rPr lang="en-IN" dirty="0"/>
              <a:t>Building a Real Productivity Tool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B796CD-C749-366C-BAB1-B1D86B55F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0" dirty="0"/>
              <a:t>Topics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B8AB70-E7E8-81F5-E236-A77D686C8D5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IN" dirty="0"/>
              <a:t>Project : Pipe Rack Drawing Standardizer</a:t>
            </a:r>
          </a:p>
          <a:p>
            <a:r>
              <a:rPr lang="en-IN" dirty="0"/>
              <a:t>Automatically:</a:t>
            </a:r>
          </a:p>
          <a:p>
            <a:pPr lvl="1"/>
            <a:r>
              <a:rPr lang="en-IN" dirty="0"/>
              <a:t>Create layers</a:t>
            </a:r>
          </a:p>
          <a:p>
            <a:pPr lvl="1"/>
            <a:r>
              <a:rPr lang="en-IN" dirty="0"/>
              <a:t>Create title notes</a:t>
            </a:r>
          </a:p>
          <a:p>
            <a:pPr lvl="1"/>
            <a:r>
              <a:rPr lang="en-IN" dirty="0"/>
              <a:t>Insert blocks</a:t>
            </a:r>
          </a:p>
          <a:p>
            <a:pPr lvl="1"/>
            <a:r>
              <a:rPr lang="en-IN" dirty="0"/>
              <a:t>Apply standards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D88459-9760-5F69-AB9E-A0D8C45A1C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IN" b="0" dirty="0"/>
              <a:t>Outcome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BAAB39-0BD9-7629-0268-081994D248C9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IN" dirty="0"/>
              <a:t>First business-use plugin.</a:t>
            </a:r>
          </a:p>
        </p:txBody>
      </p:sp>
    </p:spTree>
    <p:extLst>
      <p:ext uri="{BB962C8B-B14F-4D97-AF65-F5344CB8AC3E}">
        <p14:creationId xmlns:p14="http://schemas.microsoft.com/office/powerpoint/2010/main" val="22240213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E7C42-6A5F-392D-DB19-696CAB35F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CDE75-CB2C-E567-CA55-56C3F1EA2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Chapter 15</a:t>
            </a:r>
            <a:br>
              <a:rPr lang="en-IN" dirty="0"/>
            </a:br>
            <a:r>
              <a:rPr lang="en-IN" dirty="0"/>
              <a:t>AutoCAD Drawing Automation Toolkit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8CB5A9-657F-2300-25B5-4BC87C33DF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0" dirty="0"/>
              <a:t>Topics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AC30CB-55B7-AA2D-E8DD-13A210875B1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IN" dirty="0"/>
              <a:t>Create Layers</a:t>
            </a:r>
          </a:p>
          <a:p>
            <a:r>
              <a:rPr lang="en-IN" dirty="0"/>
              <a:t>Insert Blocks</a:t>
            </a:r>
          </a:p>
          <a:p>
            <a:r>
              <a:rPr lang="en-IN" dirty="0"/>
              <a:t>Add Equipment Tags</a:t>
            </a:r>
          </a:p>
          <a:p>
            <a:r>
              <a:rPr lang="en-IN" dirty="0"/>
              <a:t>Generate Text</a:t>
            </a:r>
          </a:p>
          <a:p>
            <a:r>
              <a:rPr lang="en-IN" dirty="0"/>
              <a:t>Validate Drawing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5B7716-9770-ADD4-8613-69CB234844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IN" b="0" dirty="0"/>
              <a:t>Outcome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315A34-02C8-282E-AAB7-69B57C1131A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IN" dirty="0"/>
              <a:t>Portfolio-ready project.</a:t>
            </a:r>
          </a:p>
        </p:txBody>
      </p:sp>
    </p:spTree>
    <p:extLst>
      <p:ext uri="{BB962C8B-B14F-4D97-AF65-F5344CB8AC3E}">
        <p14:creationId xmlns:p14="http://schemas.microsoft.com/office/powerpoint/2010/main" val="24816281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dcf2f2b0-237a-4418-9927-9eefd42ac953}" enabled="1" method="Standard" siteId="{47312dc6-0a91-4272-a8a5-031fca130189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475</Words>
  <Application>Microsoft Office PowerPoint</Application>
  <PresentationFormat>Widescreen</PresentationFormat>
  <Paragraphs>144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Theme</vt:lpstr>
      <vt:lpstr>AutoCAD .NET Developer Bootcamp (C#)</vt:lpstr>
      <vt:lpstr>Chapter 1 Introduction to AutoCAD Development</vt:lpstr>
      <vt:lpstr>Chapter 2 Development Environment Setup</vt:lpstr>
      <vt:lpstr>Chapter 3 Understanding Commands</vt:lpstr>
      <vt:lpstr>Chapter 4 Understanding AutoCAD Architecture</vt:lpstr>
      <vt:lpstr>Chapter 5 Creating Your First Entities</vt:lpstr>
      <vt:lpstr>Chapter 6 Working with Transactions</vt:lpstr>
      <vt:lpstr>Chapter 7 Creating and Managing Layers</vt:lpstr>
      <vt:lpstr>Chapter 8 Working with Text and Dimensions</vt:lpstr>
      <vt:lpstr>Chapter 9 Working with Polylines</vt:lpstr>
      <vt:lpstr>Chapter 10 Introducing Blocks</vt:lpstr>
      <vt:lpstr>Chapter 11 Working with Block Attributes</vt:lpstr>
      <vt:lpstr>Chapter 12 Selecting Existing Objects</vt:lpstr>
      <vt:lpstr>Chapter 13 Modifying Existing Objects</vt:lpstr>
      <vt:lpstr>Chapter 14 Building a Real Productivity Tool</vt:lpstr>
      <vt:lpstr>Chapter 15 AutoCAD Drawing Automation Toolkit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Shivang Kheradiya</dc:creator>
  <cp:lastModifiedBy>Shivang Kheradiya</cp:lastModifiedBy>
  <cp:revision>119</cp:revision>
  <dcterms:created xsi:type="dcterms:W3CDTF">2026-09-16T09:37:36Z</dcterms:created>
  <dcterms:modified xsi:type="dcterms:W3CDTF">2026-09-18T13:23:39Z</dcterms:modified>
</cp:coreProperties>
</file>